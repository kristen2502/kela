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024CB-8550-B30A-A987-EF00141E42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B29771-6565-D06D-63A9-4B6AA2AC05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41C578-3A32-7D20-9454-2EE862E3A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B4767-84F2-492A-A986-3D82AF0868EF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9A3406-1335-56AC-7D12-ED22C8F1D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D49D4D-2469-EB38-E5DB-34C537479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4A1A5-5591-4DE8-83AA-03B78F8C83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122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F5AD3-24C2-C0B1-50D4-9DA257A86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023F2E-D9EF-FFBE-EA7C-6B21E01110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CC0E09-73BB-1599-6D36-79A2F893E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B4767-84F2-492A-A986-3D82AF0868EF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1EEB59-31BB-C66F-8D64-34F372C9A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81BF51-FB39-8F4E-55A1-B9C4A534F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4A1A5-5591-4DE8-83AA-03B78F8C83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891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B764B-E43F-0699-570C-FDF706D85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1E29BE-7A5A-58F2-B574-DF145AEF61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ACE444-6953-BA5E-102D-E9A996386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B4767-84F2-492A-A986-3D82AF0868EF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6AA35-3494-B918-9928-377E44E5C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286AB4-606D-FE4B-243E-76225D39E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4A1A5-5591-4DE8-83AA-03B78F8C83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29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33188-2F61-B554-1C3A-40F357449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0ED2E2-03E5-E7D6-2398-9899087DA6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FDD89B-4A8E-4ADE-72D4-FADDED46D1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AEB30F-EE43-FF59-D658-ECBEBD0C7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B4767-84F2-492A-A986-3D82AF0868EF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D88DF6-0947-AF3B-FA59-41F83F9E9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FE957A-5ADC-DC6D-4E27-16DF5BFB3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4A1A5-5591-4DE8-83AA-03B78F8C83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32485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5FC28-8B79-B0D8-D2DB-3D45B7C34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41CC94-2ADB-E500-493D-6689C4E96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7A2D5C-C27F-03A5-0862-A9A075A3F5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066353-941D-16B7-BFDB-4E3633ED2A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981611-47E6-EA0F-C5C1-E806200CB9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815245-1193-1EF8-AA01-4CC923A3D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B4767-84F2-492A-A986-3D82AF0868EF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4C9383-7DE7-AE59-28E2-079F53F43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6D6334-C685-6A83-D0F3-7501235EE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4A1A5-5591-4DE8-83AA-03B78F8C83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9128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247B0-5516-FEC3-3AB0-279C56E96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058117-8FBC-D8B0-9AE0-2854FA620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B4767-84F2-492A-A986-3D82AF0868EF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2EFF59-CA9A-5841-7160-A792C23AA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9DDCDA-82A1-F74A-857C-23DB6633A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4A1A5-5591-4DE8-83AA-03B78F8C83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92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760EFA-A218-C41D-83D3-0B1BE528C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B4767-84F2-492A-A986-3D82AF0868EF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2A4828-AF30-690D-A802-66C526C86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CFE76E-4BC4-4A78-DCF6-36BE85F36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4A1A5-5591-4DE8-83AA-03B78F8C83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8191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C3172-A7AE-16E0-2100-AA2AB776F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241D67-8903-5A76-4D71-C7ABEED202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FDADE9-EA7F-B521-D737-44EDBA9569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DA5692-7432-9066-ADA6-9D6BA1F26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B4767-84F2-492A-A986-3D82AF0868EF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733E0F-D67E-7779-66C4-2B3E4C158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42BFF9-2875-19A8-BCE1-30CD503EC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4A1A5-5591-4DE8-83AA-03B78F8C83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6472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5558A-5931-F40D-59E4-7BFD8DDF8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4ABC1D-112C-38B5-7AA0-76857F9C0E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ED1589-7FF0-96BE-BA1A-20C24D9EE8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3DD6E8-0AD3-9F39-F613-56F2D8A68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B4767-84F2-492A-A986-3D82AF0868EF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3D0591-CE3D-9703-E8E0-B6C4EE1BB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F7EB68-09AC-1AEC-91E3-11D70232E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4A1A5-5591-4DE8-83AA-03B78F8C83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95350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E9AB9-33B0-19AF-DA79-4693FC06C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CB3EEE-17B4-3943-2DFB-2121A311D6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27B06A-BE6E-017D-25FE-2BD993D36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B4767-84F2-492A-A986-3D82AF0868EF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F917CA-230B-D8A7-819F-F124DE9BD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40250-0283-8FC3-AFC5-998425C5A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4A1A5-5591-4DE8-83AA-03B78F8C83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6348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C8EDDB-AD7D-5F51-3FDA-7E99FE39D7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A80548-2A1B-E9C3-96C2-7EE9A605F0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0FC9FD-F292-AD5B-A76D-5394FA912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B4767-84F2-492A-A986-3D82AF0868EF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64D4FC-5EC3-869B-DE1C-07667B32D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46C093-51C6-D4EF-8DD8-CE273F42E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4A1A5-5591-4DE8-83AA-03B78F8C83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06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3B9C8B-6A3A-5F0E-7567-E67C38A37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F60295-B211-5FE4-C94D-BCAF5A6747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E84E76-BD89-151F-4322-7A0AA8B9C9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4B4767-84F2-492A-A986-3D82AF0868EF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0738F0-4350-9CEF-0D7A-05627592A5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30C9FD-D63C-0978-AAF2-9C369D74A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74A1A5-5591-4DE8-83AA-03B78F8C83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95524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BEF88-1F7F-E26D-6839-250F81BEB6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Templates</a:t>
            </a:r>
          </a:p>
        </p:txBody>
      </p:sp>
    </p:spTree>
    <p:extLst>
      <p:ext uri="{BB962C8B-B14F-4D97-AF65-F5344CB8AC3E}">
        <p14:creationId xmlns:p14="http://schemas.microsoft.com/office/powerpoint/2010/main" val="33369504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31DD4-C4EE-BE77-EB43-3EFCE1A1D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Generic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1AB490-F5BE-DCB4-3454-191E3EE57B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generic function defines a general set of operations that will be applied to various types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data.</a:t>
            </a:r>
          </a:p>
          <a:p>
            <a:pPr algn="just">
              <a:lnSpc>
                <a:spcPct val="2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type of data that the function will operate upon is passed to it as a parameter.</a:t>
            </a:r>
          </a:p>
          <a:p>
            <a:pPr>
              <a:lnSpc>
                <a:spcPct val="2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 a generic function, a single general procedure can be applied to a wide range of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data.</a:t>
            </a:r>
          </a:p>
          <a:p>
            <a:pPr>
              <a:lnSpc>
                <a:spcPct val="2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generic function is created using the keyword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template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template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a general framework or blueprint for a function (or class), allowing the compiler to automatically generate specific versions of that function for different data types when required.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2205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4E9B5-5323-85F7-F63A-39C0296BA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Generic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957759-E273-C127-BDB9-CAEADE944A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general form of a template function definition is shown here:</a:t>
            </a:r>
          </a:p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template &lt;class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Ttype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ret-type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-name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 list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 algn="just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{</a:t>
            </a:r>
          </a:p>
          <a:p>
            <a:pPr marL="0" indent="0" algn="just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//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body of function</a:t>
            </a:r>
          </a:p>
          <a:p>
            <a:pPr marL="0" indent="0" algn="just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}</a:t>
            </a:r>
          </a:p>
        </p:txBody>
      </p:sp>
    </p:spTree>
    <p:extLst>
      <p:ext uri="{BB962C8B-B14F-4D97-AF65-F5344CB8AC3E}">
        <p14:creationId xmlns:p14="http://schemas.microsoft.com/office/powerpoint/2010/main" val="18628713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CB465-C766-3507-AA1E-941BFB388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Generic Functions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B9381E-8375-4265-AE9E-63B18553A1F2}"/>
              </a:ext>
            </a:extLst>
          </p:cNvPr>
          <p:cNvSpPr txBox="1"/>
          <p:nvPr/>
        </p:nvSpPr>
        <p:spPr>
          <a:xfrm>
            <a:off x="838200" y="2276856"/>
            <a:ext cx="450189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#include &lt;iostream&gt;</a:t>
            </a:r>
          </a:p>
          <a:p>
            <a:r>
              <a:rPr lang="en-IN" dirty="0"/>
              <a:t>using namespace std;</a:t>
            </a:r>
          </a:p>
          <a:p>
            <a:r>
              <a:rPr lang="en-US" dirty="0"/>
              <a:t>// This is a function template.</a:t>
            </a:r>
          </a:p>
          <a:p>
            <a:r>
              <a:rPr lang="en-US" dirty="0"/>
              <a:t>template &lt;class X&gt; void </a:t>
            </a:r>
            <a:r>
              <a:rPr lang="en-US" dirty="0" err="1"/>
              <a:t>swapargs</a:t>
            </a:r>
            <a:r>
              <a:rPr lang="en-US" dirty="0"/>
              <a:t>(X &amp;a, X &amp;b)</a:t>
            </a:r>
          </a:p>
          <a:p>
            <a:r>
              <a:rPr lang="en-IN" dirty="0"/>
              <a:t>{</a:t>
            </a:r>
          </a:p>
          <a:p>
            <a:r>
              <a:rPr lang="en-IN" dirty="0"/>
              <a:t>X temp;</a:t>
            </a:r>
          </a:p>
          <a:p>
            <a:r>
              <a:rPr lang="en-IN" dirty="0"/>
              <a:t>temp = a;</a:t>
            </a:r>
          </a:p>
          <a:p>
            <a:r>
              <a:rPr lang="en-IN" dirty="0"/>
              <a:t>a = b;</a:t>
            </a:r>
          </a:p>
          <a:p>
            <a:r>
              <a:rPr lang="en-IN" dirty="0"/>
              <a:t>b = temp;</a:t>
            </a:r>
          </a:p>
          <a:p>
            <a:r>
              <a:rPr lang="en-IN" dirty="0"/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DB56FE-DD4E-47A1-35B1-B6BFDF95946E}"/>
              </a:ext>
            </a:extLst>
          </p:cNvPr>
          <p:cNvSpPr txBox="1"/>
          <p:nvPr/>
        </p:nvSpPr>
        <p:spPr>
          <a:xfrm>
            <a:off x="6391656" y="2276856"/>
            <a:ext cx="518464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int main()</a:t>
            </a:r>
          </a:p>
          <a:p>
            <a:r>
              <a:rPr lang="en-IN" dirty="0"/>
              <a:t>{</a:t>
            </a:r>
          </a:p>
          <a:p>
            <a:r>
              <a:rPr lang="en-IN" dirty="0"/>
              <a:t>int </a:t>
            </a:r>
            <a:r>
              <a:rPr lang="en-IN" dirty="0" err="1"/>
              <a:t>i</a:t>
            </a:r>
            <a:r>
              <a:rPr lang="en-IN" dirty="0"/>
              <a:t>=10, j=20;</a:t>
            </a:r>
          </a:p>
          <a:p>
            <a:r>
              <a:rPr lang="fr-FR" dirty="0"/>
              <a:t>double x=10.1, y=23.3;</a:t>
            </a:r>
          </a:p>
          <a:p>
            <a:r>
              <a:rPr lang="pt-BR" dirty="0"/>
              <a:t>char a='x', b='z';</a:t>
            </a:r>
          </a:p>
          <a:p>
            <a:r>
              <a:rPr lang="nn-NO" dirty="0"/>
              <a:t>cout &lt;&lt; "Original i, j: " &lt;&lt; i &lt;&lt; ' ' &lt;&lt; j &lt;&lt; '\n';</a:t>
            </a:r>
          </a:p>
          <a:p>
            <a:r>
              <a:rPr lang="en-IN" dirty="0" err="1"/>
              <a:t>cout</a:t>
            </a:r>
            <a:r>
              <a:rPr lang="en-IN" dirty="0"/>
              <a:t> &lt;&lt; "Original x, y: " &lt;&lt; x &lt;&lt; ' ' &lt;&lt; y &lt;&lt; '\n';</a:t>
            </a:r>
          </a:p>
          <a:p>
            <a:r>
              <a:rPr lang="en-IN" dirty="0" err="1"/>
              <a:t>cout</a:t>
            </a:r>
            <a:r>
              <a:rPr lang="en-IN" dirty="0"/>
              <a:t> &lt;&lt; "Original a, b: " &lt;&lt; a &lt;&lt; ' ' &lt;&lt; b &lt;&lt; '\n';</a:t>
            </a:r>
          </a:p>
          <a:p>
            <a:r>
              <a:rPr lang="en-IN" dirty="0" err="1"/>
              <a:t>swapargs</a:t>
            </a:r>
            <a:r>
              <a:rPr lang="en-IN" dirty="0"/>
              <a:t>(</a:t>
            </a:r>
            <a:r>
              <a:rPr lang="en-IN" dirty="0" err="1"/>
              <a:t>i</a:t>
            </a:r>
            <a:r>
              <a:rPr lang="en-IN" dirty="0"/>
              <a:t>, j); // swap integers</a:t>
            </a:r>
          </a:p>
          <a:p>
            <a:r>
              <a:rPr lang="en-IN" dirty="0" err="1"/>
              <a:t>swapargs</a:t>
            </a:r>
            <a:r>
              <a:rPr lang="en-IN" dirty="0"/>
              <a:t>(x, y); // swap floats</a:t>
            </a:r>
          </a:p>
          <a:p>
            <a:r>
              <a:rPr lang="en-US" dirty="0" err="1"/>
              <a:t>swapargs</a:t>
            </a:r>
            <a:r>
              <a:rPr lang="en-US" dirty="0"/>
              <a:t>(a, b); // swap chars</a:t>
            </a:r>
          </a:p>
          <a:p>
            <a:r>
              <a:rPr lang="en-US" dirty="0" err="1"/>
              <a:t>cout</a:t>
            </a:r>
            <a:r>
              <a:rPr lang="en-US" dirty="0"/>
              <a:t> &lt;&lt; "Swapped </a:t>
            </a:r>
            <a:r>
              <a:rPr lang="en-US" dirty="0" err="1"/>
              <a:t>i</a:t>
            </a:r>
            <a:r>
              <a:rPr lang="en-US" dirty="0"/>
              <a:t>, j: " &lt;&lt; </a:t>
            </a:r>
            <a:r>
              <a:rPr lang="en-US" dirty="0" err="1"/>
              <a:t>i</a:t>
            </a:r>
            <a:r>
              <a:rPr lang="en-US" dirty="0"/>
              <a:t> &lt;&lt; ' ' &lt;&lt; j &lt;&lt; '\n';</a:t>
            </a:r>
          </a:p>
          <a:p>
            <a:r>
              <a:rPr lang="fr-FR" dirty="0"/>
              <a:t>cout &lt;&lt; "</a:t>
            </a:r>
            <a:r>
              <a:rPr lang="fr-FR" dirty="0" err="1"/>
              <a:t>Swapped</a:t>
            </a:r>
            <a:r>
              <a:rPr lang="fr-FR" dirty="0"/>
              <a:t> x, y: " &lt;&lt; x &lt;&lt; ' ' &lt;&lt; y &lt;&lt; '\n';</a:t>
            </a:r>
          </a:p>
          <a:p>
            <a:r>
              <a:rPr lang="en-US" dirty="0" err="1"/>
              <a:t>cout</a:t>
            </a:r>
            <a:r>
              <a:rPr lang="en-US" dirty="0"/>
              <a:t> &lt;&lt; "Swapped a, b: " &lt;&lt; a &lt;&lt; ' ' &lt;&lt; b &lt;&lt; '\n';</a:t>
            </a:r>
          </a:p>
          <a:p>
            <a:r>
              <a:rPr lang="en-IN" dirty="0"/>
              <a:t>return 0;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807023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4C8A5-6458-C71A-5EA9-06FB1AC60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 Function with Two Generic Types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E60163-4D86-BF50-F5D4-07670DF82F33}"/>
              </a:ext>
            </a:extLst>
          </p:cNvPr>
          <p:cNvSpPr txBox="1"/>
          <p:nvPr/>
        </p:nvSpPr>
        <p:spPr>
          <a:xfrm>
            <a:off x="3410712" y="2194560"/>
            <a:ext cx="50292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#include &lt;iostream&gt;</a:t>
            </a:r>
          </a:p>
          <a:p>
            <a:r>
              <a:rPr lang="en-IN" dirty="0"/>
              <a:t>using namespace std;</a:t>
            </a:r>
          </a:p>
          <a:p>
            <a:r>
              <a:rPr lang="en-US" dirty="0"/>
              <a:t>template &lt;class type1, class type2&gt;</a:t>
            </a:r>
          </a:p>
          <a:p>
            <a:r>
              <a:rPr lang="fr-FR" dirty="0" err="1"/>
              <a:t>void</a:t>
            </a:r>
            <a:r>
              <a:rPr lang="fr-FR" dirty="0"/>
              <a:t> </a:t>
            </a:r>
            <a:r>
              <a:rPr lang="fr-FR" dirty="0" err="1"/>
              <a:t>myfunc</a:t>
            </a:r>
            <a:r>
              <a:rPr lang="fr-FR" dirty="0"/>
              <a:t>(type1 x, type2 y)</a:t>
            </a:r>
          </a:p>
          <a:p>
            <a:r>
              <a:rPr lang="en-IN" dirty="0"/>
              <a:t>{</a:t>
            </a:r>
          </a:p>
          <a:p>
            <a:r>
              <a:rPr lang="en-IN" dirty="0" err="1"/>
              <a:t>cout</a:t>
            </a:r>
            <a:r>
              <a:rPr lang="en-IN" dirty="0"/>
              <a:t> &lt;&lt; x &lt;&lt; ' ' &lt;&lt; y &lt;&lt; '\n';</a:t>
            </a:r>
          </a:p>
          <a:p>
            <a:r>
              <a:rPr lang="en-IN" dirty="0"/>
              <a:t>}</a:t>
            </a:r>
          </a:p>
          <a:p>
            <a:r>
              <a:rPr lang="en-IN" dirty="0"/>
              <a:t>int main()</a:t>
            </a:r>
          </a:p>
          <a:p>
            <a:r>
              <a:rPr lang="en-IN" dirty="0"/>
              <a:t>{</a:t>
            </a:r>
          </a:p>
          <a:p>
            <a:r>
              <a:rPr lang="nn-NO" dirty="0"/>
              <a:t>myfunc(10, "I like C++");</a:t>
            </a:r>
          </a:p>
          <a:p>
            <a:r>
              <a:rPr lang="en-IN" dirty="0" err="1"/>
              <a:t>myfunc</a:t>
            </a:r>
            <a:r>
              <a:rPr lang="en-IN" dirty="0"/>
              <a:t>(98.6, 19L);</a:t>
            </a:r>
          </a:p>
          <a:p>
            <a:r>
              <a:rPr lang="en-IN" dirty="0"/>
              <a:t>return 0;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014666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954B8-F2C2-F11D-1853-756F3567A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Overloading a Generic Function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D848A9-0372-0AEC-70D8-B8CC4C091C0E}"/>
              </a:ext>
            </a:extLst>
          </p:cNvPr>
          <p:cNvSpPr txBox="1"/>
          <p:nvPr/>
        </p:nvSpPr>
        <p:spPr>
          <a:xfrm>
            <a:off x="838200" y="1947672"/>
            <a:ext cx="442874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// Overriding a template function.</a:t>
            </a:r>
          </a:p>
          <a:p>
            <a:r>
              <a:rPr lang="en-IN" dirty="0"/>
              <a:t>#include &lt;iostream&gt;</a:t>
            </a:r>
          </a:p>
          <a:p>
            <a:r>
              <a:rPr lang="en-IN" dirty="0"/>
              <a:t>using namespace std;</a:t>
            </a:r>
          </a:p>
          <a:p>
            <a:r>
              <a:rPr lang="en-US" dirty="0"/>
              <a:t>template &lt;class X&gt; void </a:t>
            </a:r>
            <a:r>
              <a:rPr lang="en-US" dirty="0" err="1"/>
              <a:t>swapargs</a:t>
            </a:r>
            <a:r>
              <a:rPr lang="en-US" dirty="0"/>
              <a:t>(X &amp;a, X &amp;b)</a:t>
            </a:r>
          </a:p>
          <a:p>
            <a:r>
              <a:rPr lang="en-IN" dirty="0"/>
              <a:t>{</a:t>
            </a:r>
          </a:p>
          <a:p>
            <a:r>
              <a:rPr lang="en-IN" dirty="0"/>
              <a:t>X temp;</a:t>
            </a:r>
          </a:p>
          <a:p>
            <a:r>
              <a:rPr lang="en-IN" dirty="0"/>
              <a:t>temp = a;</a:t>
            </a:r>
          </a:p>
          <a:p>
            <a:r>
              <a:rPr lang="en-IN" dirty="0"/>
              <a:t>a = b;</a:t>
            </a:r>
          </a:p>
          <a:p>
            <a:r>
              <a:rPr lang="en-IN" dirty="0"/>
              <a:t>b = temp;</a:t>
            </a:r>
          </a:p>
          <a:p>
            <a:r>
              <a:rPr lang="en-IN" dirty="0" err="1"/>
              <a:t>cout</a:t>
            </a:r>
            <a:r>
              <a:rPr lang="en-IN" dirty="0"/>
              <a:t> &lt;&lt; "Inside template </a:t>
            </a:r>
            <a:r>
              <a:rPr lang="en-IN" dirty="0" err="1"/>
              <a:t>swapargs</a:t>
            </a:r>
            <a:r>
              <a:rPr lang="en-IN" dirty="0"/>
              <a:t>.\n";</a:t>
            </a:r>
          </a:p>
          <a:p>
            <a:r>
              <a:rPr lang="en-IN" dirty="0"/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A7FE1A-42AC-03AC-5558-F41ACF76A679}"/>
              </a:ext>
            </a:extLst>
          </p:cNvPr>
          <p:cNvSpPr txBox="1"/>
          <p:nvPr/>
        </p:nvSpPr>
        <p:spPr>
          <a:xfrm>
            <a:off x="5751576" y="1929384"/>
            <a:ext cx="384048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// This overrides the generic version of </a:t>
            </a:r>
            <a:r>
              <a:rPr lang="en-US" dirty="0" err="1"/>
              <a:t>swapargs</a:t>
            </a:r>
            <a:r>
              <a:rPr lang="en-US" dirty="0"/>
              <a:t>() for </a:t>
            </a:r>
            <a:r>
              <a:rPr lang="en-US" dirty="0" err="1"/>
              <a:t>ints</a:t>
            </a:r>
            <a:r>
              <a:rPr lang="en-US" dirty="0"/>
              <a:t>.</a:t>
            </a:r>
          </a:p>
          <a:p>
            <a:r>
              <a:rPr lang="en-US" dirty="0"/>
              <a:t>void </a:t>
            </a:r>
            <a:r>
              <a:rPr lang="en-US" dirty="0" err="1"/>
              <a:t>swapargs</a:t>
            </a:r>
            <a:r>
              <a:rPr lang="en-US" dirty="0"/>
              <a:t>(int &amp;a, int &amp;b)</a:t>
            </a:r>
          </a:p>
          <a:p>
            <a:r>
              <a:rPr lang="en-IN" dirty="0"/>
              <a:t>{</a:t>
            </a:r>
          </a:p>
          <a:p>
            <a:r>
              <a:rPr lang="en-IN" dirty="0"/>
              <a:t>int temp;</a:t>
            </a:r>
          </a:p>
          <a:p>
            <a:r>
              <a:rPr lang="en-IN" dirty="0"/>
              <a:t>temp = a;</a:t>
            </a:r>
          </a:p>
          <a:p>
            <a:r>
              <a:rPr lang="en-IN" dirty="0"/>
              <a:t>a = b;</a:t>
            </a:r>
          </a:p>
          <a:p>
            <a:r>
              <a:rPr lang="en-IN" dirty="0"/>
              <a:t>b = temp;</a:t>
            </a:r>
          </a:p>
          <a:p>
            <a:r>
              <a:rPr lang="en-IN" dirty="0" err="1"/>
              <a:t>cout</a:t>
            </a:r>
            <a:r>
              <a:rPr lang="en-IN" dirty="0"/>
              <a:t> &lt;&lt; "Inside </a:t>
            </a:r>
            <a:r>
              <a:rPr lang="en-IN" dirty="0" err="1"/>
              <a:t>swapargs</a:t>
            </a:r>
            <a:r>
              <a:rPr lang="en-IN" dirty="0"/>
              <a:t> int specialization.\n";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14303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C186F-9BCB-EAF9-CAB9-D023AF2AE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Overloading a Generic Function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8C99CF-242E-3309-1DFD-5767FC51BAF0}"/>
              </a:ext>
            </a:extLst>
          </p:cNvPr>
          <p:cNvSpPr txBox="1"/>
          <p:nvPr/>
        </p:nvSpPr>
        <p:spPr>
          <a:xfrm>
            <a:off x="2350008" y="2176272"/>
            <a:ext cx="692200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int main()</a:t>
            </a:r>
          </a:p>
          <a:p>
            <a:r>
              <a:rPr lang="en-IN" dirty="0"/>
              <a:t>{</a:t>
            </a:r>
          </a:p>
          <a:p>
            <a:r>
              <a:rPr lang="en-IN" dirty="0"/>
              <a:t>int </a:t>
            </a:r>
            <a:r>
              <a:rPr lang="en-IN" dirty="0" err="1"/>
              <a:t>i</a:t>
            </a:r>
            <a:r>
              <a:rPr lang="en-IN" dirty="0"/>
              <a:t>=10, j=20;</a:t>
            </a:r>
          </a:p>
          <a:p>
            <a:r>
              <a:rPr lang="fr-FR" dirty="0"/>
              <a:t>double x=10.1, y=23.3;</a:t>
            </a:r>
          </a:p>
          <a:p>
            <a:r>
              <a:rPr lang="pt-BR" dirty="0"/>
              <a:t>char a='x', b='z';</a:t>
            </a:r>
          </a:p>
          <a:p>
            <a:r>
              <a:rPr lang="nn-NO" dirty="0"/>
              <a:t>cout &lt;&lt; "Original i, j: " &lt;&lt; i &lt;&lt; ' ' &lt;&lt; j &lt;&lt; '\n';</a:t>
            </a:r>
          </a:p>
          <a:p>
            <a:r>
              <a:rPr lang="en-IN" dirty="0" err="1"/>
              <a:t>cout</a:t>
            </a:r>
            <a:r>
              <a:rPr lang="en-IN" dirty="0"/>
              <a:t> &lt;&lt; "Original x, y: " &lt;&lt; x &lt;&lt; ' ' &lt;&lt; y &lt;&lt; '\n';</a:t>
            </a:r>
          </a:p>
          <a:p>
            <a:r>
              <a:rPr lang="en-IN" dirty="0" err="1"/>
              <a:t>cout</a:t>
            </a:r>
            <a:r>
              <a:rPr lang="en-IN" dirty="0"/>
              <a:t> &lt;&lt; "Original a, b: " &lt;&lt; a &lt;&lt; ' ' &lt;&lt; b &lt;&lt; '\n';</a:t>
            </a:r>
          </a:p>
          <a:p>
            <a:r>
              <a:rPr lang="en-US" dirty="0" err="1"/>
              <a:t>swapargs</a:t>
            </a:r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, j); // calls explicitly overloaded </a:t>
            </a:r>
            <a:r>
              <a:rPr lang="en-US" dirty="0" err="1"/>
              <a:t>swapargs</a:t>
            </a:r>
            <a:r>
              <a:rPr lang="en-US" dirty="0"/>
              <a:t>()</a:t>
            </a:r>
          </a:p>
          <a:p>
            <a:r>
              <a:rPr lang="en-US" dirty="0" err="1"/>
              <a:t>swapargs</a:t>
            </a:r>
            <a:r>
              <a:rPr lang="en-US" dirty="0"/>
              <a:t>(x, y); // calls generic </a:t>
            </a:r>
            <a:r>
              <a:rPr lang="en-US" dirty="0" err="1"/>
              <a:t>swapargs</a:t>
            </a:r>
            <a:r>
              <a:rPr lang="en-US" dirty="0"/>
              <a:t>()</a:t>
            </a:r>
          </a:p>
          <a:p>
            <a:r>
              <a:rPr lang="en-US" dirty="0" err="1"/>
              <a:t>swapargs</a:t>
            </a:r>
            <a:r>
              <a:rPr lang="en-US" dirty="0"/>
              <a:t>(a, b); // calls generic </a:t>
            </a:r>
            <a:r>
              <a:rPr lang="en-US" dirty="0" err="1"/>
              <a:t>swapargs</a:t>
            </a:r>
            <a:r>
              <a:rPr lang="en-US" dirty="0"/>
              <a:t>()</a:t>
            </a:r>
          </a:p>
          <a:p>
            <a:r>
              <a:rPr lang="en-US" dirty="0" err="1"/>
              <a:t>cout</a:t>
            </a:r>
            <a:r>
              <a:rPr lang="en-US" dirty="0"/>
              <a:t> &lt;&lt; "Swapped </a:t>
            </a:r>
            <a:r>
              <a:rPr lang="en-US" dirty="0" err="1"/>
              <a:t>i</a:t>
            </a:r>
            <a:r>
              <a:rPr lang="en-US" dirty="0"/>
              <a:t>, j: " &lt;&lt; </a:t>
            </a:r>
            <a:r>
              <a:rPr lang="en-US" dirty="0" err="1"/>
              <a:t>i</a:t>
            </a:r>
            <a:r>
              <a:rPr lang="en-US" dirty="0"/>
              <a:t> &lt;&lt; ' ' &lt;&lt; j &lt;&lt; '\n';</a:t>
            </a:r>
          </a:p>
          <a:p>
            <a:r>
              <a:rPr lang="fr-FR" dirty="0"/>
              <a:t>cout &lt;&lt; "</a:t>
            </a:r>
            <a:r>
              <a:rPr lang="fr-FR" dirty="0" err="1"/>
              <a:t>Swapped</a:t>
            </a:r>
            <a:r>
              <a:rPr lang="fr-FR" dirty="0"/>
              <a:t> x, y: " &lt;&lt; x &lt;&lt; ' ' &lt;&lt; y &lt;&lt; '\n';</a:t>
            </a:r>
          </a:p>
          <a:p>
            <a:r>
              <a:rPr lang="en-US" dirty="0" err="1"/>
              <a:t>cout</a:t>
            </a:r>
            <a:r>
              <a:rPr lang="en-US" dirty="0"/>
              <a:t> &lt;&lt; "Swapped a, b: " &lt;&lt; a &lt;&lt; ' ' &lt;&lt; b &lt;&lt; '\n';</a:t>
            </a:r>
          </a:p>
          <a:p>
            <a:r>
              <a:rPr lang="en-IN" dirty="0"/>
              <a:t>return 0;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65865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19341-069F-FE7F-FD33-DA7CBACC7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Overloading a Function Template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732288-00F2-89C7-C692-5F1A5DD64F60}"/>
              </a:ext>
            </a:extLst>
          </p:cNvPr>
          <p:cNvSpPr txBox="1"/>
          <p:nvPr/>
        </p:nvSpPr>
        <p:spPr>
          <a:xfrm>
            <a:off x="1883664" y="1690688"/>
            <a:ext cx="8010144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// Overload a function template declaration.</a:t>
            </a:r>
          </a:p>
          <a:p>
            <a:r>
              <a:rPr lang="en-IN" dirty="0"/>
              <a:t>#include &lt;iostream&gt;</a:t>
            </a:r>
          </a:p>
          <a:p>
            <a:r>
              <a:rPr lang="en-IN" dirty="0"/>
              <a:t>using namespace std;</a:t>
            </a:r>
          </a:p>
          <a:p>
            <a:r>
              <a:rPr lang="en-US" dirty="0"/>
              <a:t>// First version of f() template.</a:t>
            </a:r>
          </a:p>
          <a:p>
            <a:r>
              <a:rPr lang="en-US" dirty="0"/>
              <a:t>template &lt;class X&gt; void f(X a)</a:t>
            </a:r>
          </a:p>
          <a:p>
            <a:r>
              <a:rPr lang="en-IN" dirty="0"/>
              <a:t>{</a:t>
            </a:r>
          </a:p>
          <a:p>
            <a:r>
              <a:rPr lang="fr-FR" dirty="0"/>
              <a:t>cout &lt;&lt; "Inside f(X a)\n";</a:t>
            </a:r>
          </a:p>
          <a:p>
            <a:r>
              <a:rPr lang="en-IN" dirty="0"/>
              <a:t>}</a:t>
            </a:r>
          </a:p>
          <a:p>
            <a:r>
              <a:rPr lang="en-US" dirty="0"/>
              <a:t>// Second version of f() template.</a:t>
            </a:r>
          </a:p>
          <a:p>
            <a:r>
              <a:rPr lang="en-US" dirty="0"/>
              <a:t>template &lt;class X, class Y&gt; void f(X a, Y b)</a:t>
            </a:r>
          </a:p>
          <a:p>
            <a:r>
              <a:rPr lang="en-IN" dirty="0"/>
              <a:t>{</a:t>
            </a:r>
          </a:p>
          <a:p>
            <a:r>
              <a:rPr lang="fr-FR" dirty="0"/>
              <a:t>cout &lt;&lt; "Inside f(X a, Y b)\n";</a:t>
            </a:r>
          </a:p>
          <a:p>
            <a:r>
              <a:rPr lang="en-IN" dirty="0"/>
              <a:t>}</a:t>
            </a:r>
          </a:p>
          <a:p>
            <a:r>
              <a:rPr lang="en-IN" dirty="0"/>
              <a:t>int main()</a:t>
            </a:r>
          </a:p>
          <a:p>
            <a:r>
              <a:rPr lang="en-IN" dirty="0"/>
              <a:t>{</a:t>
            </a:r>
          </a:p>
          <a:p>
            <a:r>
              <a:rPr lang="en-US" dirty="0"/>
              <a:t>f(10); // calls f(X)</a:t>
            </a:r>
          </a:p>
          <a:p>
            <a:r>
              <a:rPr lang="en-US" dirty="0"/>
              <a:t>f(10, 20); // calls f(X, Y)</a:t>
            </a:r>
          </a:p>
          <a:p>
            <a:r>
              <a:rPr lang="en-IN" dirty="0"/>
              <a:t>return 0;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073330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DB11D-AC51-AC1F-127B-30213927F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Generic Function Restrictions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91E2DB-0E77-C6CC-084F-F450A6781B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functions are overloaded, you may have different actions performed within the body of each function.</a:t>
            </a:r>
          </a:p>
          <a:p>
            <a:pPr>
              <a:lnSpc>
                <a:spcPct val="2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a generic function must perform the same general action for all versions—only the type of data can differ.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49160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8950F-126F-2D2D-7370-6B780983D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Generic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691F7-3BDA-2652-21E5-FEA23B584A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allows you to create a class that can work with any data type without rewriting the same code for each type.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BBABA4-E1DD-2CE5-4B0C-1C111A8A1A4B}"/>
              </a:ext>
            </a:extLst>
          </p:cNvPr>
          <p:cNvSpPr txBox="1"/>
          <p:nvPr/>
        </p:nvSpPr>
        <p:spPr>
          <a:xfrm>
            <a:off x="987552" y="2940796"/>
            <a:ext cx="5012591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/>
              <a:t>#include &lt;iostream&gt;</a:t>
            </a:r>
          </a:p>
          <a:p>
            <a:r>
              <a:rPr lang="en-IN"/>
              <a:t>using namespace std;</a:t>
            </a:r>
          </a:p>
          <a:p>
            <a:endParaRPr lang="en-IN"/>
          </a:p>
          <a:p>
            <a:r>
              <a:rPr lang="en-IN"/>
              <a:t>template &lt;class T&gt;</a:t>
            </a:r>
          </a:p>
          <a:p>
            <a:r>
              <a:rPr lang="en-IN"/>
              <a:t>class Box {</a:t>
            </a:r>
          </a:p>
          <a:p>
            <a:r>
              <a:rPr lang="en-IN"/>
              <a:t>private:</a:t>
            </a:r>
          </a:p>
          <a:p>
            <a:r>
              <a:rPr lang="en-IN"/>
              <a:t>    T value;</a:t>
            </a:r>
          </a:p>
          <a:p>
            <a:r>
              <a:rPr lang="en-IN"/>
              <a:t>public:</a:t>
            </a:r>
          </a:p>
          <a:p>
            <a:r>
              <a:rPr lang="en-IN"/>
              <a:t>    Box(T v) { value = v; }</a:t>
            </a:r>
          </a:p>
          <a:p>
            <a:r>
              <a:rPr lang="en-IN"/>
              <a:t>    void show() { cout &lt;&lt; "Value: " &lt;&lt; value &lt;&lt; endl; }</a:t>
            </a:r>
          </a:p>
          <a:p>
            <a:r>
              <a:rPr lang="en-IN"/>
              <a:t>};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E85015-4A46-46BF-9967-EC97F59E1800}"/>
              </a:ext>
            </a:extLst>
          </p:cNvPr>
          <p:cNvSpPr txBox="1"/>
          <p:nvPr/>
        </p:nvSpPr>
        <p:spPr>
          <a:xfrm>
            <a:off x="6995160" y="3054096"/>
            <a:ext cx="475488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int main() {</a:t>
            </a:r>
          </a:p>
          <a:p>
            <a:r>
              <a:rPr lang="en-IN" dirty="0"/>
              <a:t>    Box&lt;int&gt; </a:t>
            </a:r>
            <a:r>
              <a:rPr lang="en-IN" dirty="0" err="1"/>
              <a:t>intBox</a:t>
            </a:r>
            <a:r>
              <a:rPr lang="en-IN" dirty="0"/>
              <a:t>(10);        // T = int</a:t>
            </a:r>
          </a:p>
          <a:p>
            <a:r>
              <a:rPr lang="en-IN" dirty="0"/>
              <a:t>    Box&lt;double&gt; </a:t>
            </a:r>
            <a:r>
              <a:rPr lang="en-IN" dirty="0" err="1"/>
              <a:t>doubleBox</a:t>
            </a:r>
            <a:r>
              <a:rPr lang="en-IN" dirty="0"/>
              <a:t>(3.14); // T = double</a:t>
            </a:r>
          </a:p>
          <a:p>
            <a:r>
              <a:rPr lang="en-IN" dirty="0"/>
              <a:t>    Box&lt;string&gt; </a:t>
            </a:r>
            <a:r>
              <a:rPr lang="en-IN" dirty="0" err="1"/>
              <a:t>stringBox</a:t>
            </a:r>
            <a:r>
              <a:rPr lang="en-IN" dirty="0"/>
              <a:t>("Hello"); // T = string</a:t>
            </a:r>
          </a:p>
          <a:p>
            <a:endParaRPr lang="en-IN" dirty="0"/>
          </a:p>
          <a:p>
            <a:r>
              <a:rPr lang="en-IN" dirty="0"/>
              <a:t>    </a:t>
            </a:r>
            <a:r>
              <a:rPr lang="en-IN" dirty="0" err="1"/>
              <a:t>intBox.show</a:t>
            </a:r>
            <a:r>
              <a:rPr lang="en-IN" dirty="0"/>
              <a:t>();</a:t>
            </a:r>
          </a:p>
          <a:p>
            <a:r>
              <a:rPr lang="en-IN" dirty="0"/>
              <a:t>    </a:t>
            </a:r>
            <a:r>
              <a:rPr lang="en-IN" dirty="0" err="1"/>
              <a:t>doubleBox.show</a:t>
            </a:r>
            <a:r>
              <a:rPr lang="en-IN" dirty="0"/>
              <a:t>();</a:t>
            </a:r>
          </a:p>
          <a:p>
            <a:r>
              <a:rPr lang="en-IN" dirty="0"/>
              <a:t>    </a:t>
            </a:r>
            <a:r>
              <a:rPr lang="en-IN" dirty="0" err="1"/>
              <a:t>stringBox.show</a:t>
            </a:r>
            <a:r>
              <a:rPr lang="en-IN" dirty="0"/>
              <a:t>();</a:t>
            </a:r>
          </a:p>
          <a:p>
            <a:r>
              <a:rPr lang="en-IN" dirty="0"/>
              <a:t>    return 0;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41493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D34C9-8669-8AC0-6615-832086173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A Generic Array Class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6ECC2-465A-17DE-F237-A14DF4DC372B}"/>
              </a:ext>
            </a:extLst>
          </p:cNvPr>
          <p:cNvSpPr txBox="1"/>
          <p:nvPr/>
        </p:nvSpPr>
        <p:spPr>
          <a:xfrm>
            <a:off x="6172200" y="1690688"/>
            <a:ext cx="361188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#include &lt;iostream&gt;</a:t>
            </a:r>
          </a:p>
          <a:p>
            <a:r>
              <a:rPr lang="en-IN" dirty="0"/>
              <a:t>#include &lt;</a:t>
            </a:r>
            <a:r>
              <a:rPr lang="en-IN" dirty="0" err="1"/>
              <a:t>cstdlib</a:t>
            </a:r>
            <a:r>
              <a:rPr lang="en-IN" dirty="0"/>
              <a:t>&gt;</a:t>
            </a:r>
          </a:p>
          <a:p>
            <a:r>
              <a:rPr lang="en-IN" dirty="0"/>
              <a:t>using namespace std;</a:t>
            </a:r>
          </a:p>
          <a:p>
            <a:r>
              <a:rPr lang="en-IN" dirty="0" err="1"/>
              <a:t>const</a:t>
            </a:r>
            <a:r>
              <a:rPr lang="en-IN" dirty="0"/>
              <a:t> int SIZE = 10;</a:t>
            </a:r>
          </a:p>
          <a:p>
            <a:r>
              <a:rPr lang="en-US" dirty="0"/>
              <a:t>template &lt;class </a:t>
            </a:r>
            <a:r>
              <a:rPr lang="en-US" dirty="0" err="1"/>
              <a:t>AType</a:t>
            </a:r>
            <a:r>
              <a:rPr lang="en-US" dirty="0"/>
              <a:t>&gt; class </a:t>
            </a:r>
            <a:r>
              <a:rPr lang="en-US" dirty="0" err="1"/>
              <a:t>atype</a:t>
            </a:r>
            <a:endParaRPr lang="en-US" dirty="0"/>
          </a:p>
          <a:p>
            <a:r>
              <a:rPr lang="en-US" dirty="0"/>
              <a:t> {</a:t>
            </a:r>
          </a:p>
          <a:p>
            <a:r>
              <a:rPr lang="en-IN" dirty="0" err="1"/>
              <a:t>AType</a:t>
            </a:r>
            <a:r>
              <a:rPr lang="en-IN" dirty="0"/>
              <a:t> a[SIZE];</a:t>
            </a:r>
          </a:p>
          <a:p>
            <a:r>
              <a:rPr lang="en-IN" dirty="0"/>
              <a:t>public:</a:t>
            </a:r>
          </a:p>
          <a:p>
            <a:r>
              <a:rPr lang="en-IN" dirty="0" err="1"/>
              <a:t>atype</a:t>
            </a:r>
            <a:r>
              <a:rPr lang="en-IN" dirty="0"/>
              <a:t>()</a:t>
            </a:r>
          </a:p>
          <a:p>
            <a:r>
              <a:rPr lang="en-IN" dirty="0"/>
              <a:t> {</a:t>
            </a:r>
          </a:p>
          <a:p>
            <a:r>
              <a:rPr lang="en-IN" dirty="0"/>
              <a:t>register int </a:t>
            </a:r>
            <a:r>
              <a:rPr lang="en-IN" dirty="0" err="1"/>
              <a:t>i</a:t>
            </a:r>
            <a:r>
              <a:rPr lang="en-IN" dirty="0"/>
              <a:t>;</a:t>
            </a:r>
          </a:p>
          <a:p>
            <a:r>
              <a:rPr lang="nn-NO" dirty="0"/>
              <a:t>for(i=0; i&lt;SIZE; i++) </a:t>
            </a:r>
          </a:p>
          <a:p>
            <a:r>
              <a:rPr lang="nn-NO" dirty="0"/>
              <a:t>a[i] = i;</a:t>
            </a:r>
          </a:p>
          <a:p>
            <a:r>
              <a:rPr lang="en-IN" dirty="0"/>
              <a:t>}</a:t>
            </a:r>
          </a:p>
          <a:p>
            <a:r>
              <a:rPr lang="en-IN" dirty="0" err="1"/>
              <a:t>AType</a:t>
            </a:r>
            <a:r>
              <a:rPr lang="en-IN" dirty="0"/>
              <a:t> &amp;operator[](int </a:t>
            </a:r>
            <a:r>
              <a:rPr lang="en-IN" dirty="0" err="1"/>
              <a:t>i</a:t>
            </a:r>
            <a:r>
              <a:rPr lang="en-IN" dirty="0"/>
              <a:t>);</a:t>
            </a:r>
          </a:p>
          <a:p>
            <a:r>
              <a:rPr lang="en-IN" dirty="0"/>
              <a:t>};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3D8BA8-2C32-B262-932A-579BF97F9D78}"/>
              </a:ext>
            </a:extLst>
          </p:cNvPr>
          <p:cNvSpPr txBox="1"/>
          <p:nvPr/>
        </p:nvSpPr>
        <p:spPr>
          <a:xfrm>
            <a:off x="694944" y="1901952"/>
            <a:ext cx="49377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combining operator overloading with a template class, it is possible to create a generic safe-array type that can be used for creating safe arrays of any data type.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31305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4E4E4-B8A5-CB2F-B137-0AF39EF97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A Generic Array Class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13E3E5-743B-B4BB-8831-3A4A35060B53}"/>
              </a:ext>
            </a:extLst>
          </p:cNvPr>
          <p:cNvSpPr txBox="1"/>
          <p:nvPr/>
        </p:nvSpPr>
        <p:spPr>
          <a:xfrm>
            <a:off x="704088" y="1965960"/>
            <a:ext cx="622706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// Provide range checking for </a:t>
            </a:r>
            <a:r>
              <a:rPr lang="en-US" dirty="0" err="1"/>
              <a:t>atype</a:t>
            </a:r>
            <a:r>
              <a:rPr lang="en-US" dirty="0"/>
              <a:t>.</a:t>
            </a:r>
          </a:p>
          <a:p>
            <a:r>
              <a:rPr lang="en-IN" dirty="0"/>
              <a:t>template &lt;class </a:t>
            </a:r>
            <a:r>
              <a:rPr lang="en-IN" dirty="0" err="1"/>
              <a:t>AType</a:t>
            </a:r>
            <a:r>
              <a:rPr lang="en-IN" dirty="0"/>
              <a:t>&gt; </a:t>
            </a:r>
            <a:r>
              <a:rPr lang="en-IN" dirty="0" err="1"/>
              <a:t>AType</a:t>
            </a:r>
            <a:r>
              <a:rPr lang="en-IN" dirty="0"/>
              <a:t> &amp;</a:t>
            </a:r>
            <a:r>
              <a:rPr lang="en-IN" dirty="0" err="1"/>
              <a:t>atype</a:t>
            </a:r>
            <a:r>
              <a:rPr lang="en-IN" dirty="0"/>
              <a:t>&lt;</a:t>
            </a:r>
            <a:r>
              <a:rPr lang="en-IN" dirty="0" err="1"/>
              <a:t>AType</a:t>
            </a:r>
            <a:r>
              <a:rPr lang="en-IN" dirty="0"/>
              <a:t>&gt;::operator[](int </a:t>
            </a:r>
            <a:r>
              <a:rPr lang="en-IN" dirty="0" err="1"/>
              <a:t>i</a:t>
            </a:r>
            <a:r>
              <a:rPr lang="en-IN" dirty="0"/>
              <a:t>)</a:t>
            </a:r>
          </a:p>
          <a:p>
            <a:r>
              <a:rPr lang="en-IN" dirty="0"/>
              <a:t>{</a:t>
            </a:r>
          </a:p>
          <a:p>
            <a:r>
              <a:rPr lang="en-US" dirty="0"/>
              <a:t>if(</a:t>
            </a:r>
            <a:r>
              <a:rPr lang="en-US" dirty="0" err="1"/>
              <a:t>i</a:t>
            </a:r>
            <a:r>
              <a:rPr lang="en-US" dirty="0"/>
              <a:t>&lt;0 || </a:t>
            </a:r>
            <a:r>
              <a:rPr lang="en-US" dirty="0" err="1"/>
              <a:t>i</a:t>
            </a:r>
            <a:r>
              <a:rPr lang="en-US" dirty="0"/>
              <a:t>&gt; SIZE-1) {</a:t>
            </a:r>
          </a:p>
          <a:p>
            <a:r>
              <a:rPr lang="en-IN" dirty="0" err="1"/>
              <a:t>cout</a:t>
            </a:r>
            <a:r>
              <a:rPr lang="en-IN" dirty="0"/>
              <a:t> &lt;&lt; "\</a:t>
            </a:r>
            <a:r>
              <a:rPr lang="en-IN" dirty="0" err="1"/>
              <a:t>nIndex</a:t>
            </a:r>
            <a:r>
              <a:rPr lang="en-IN" dirty="0"/>
              <a:t> value of ";</a:t>
            </a:r>
          </a:p>
          <a:p>
            <a:r>
              <a:rPr lang="en-US" dirty="0" err="1"/>
              <a:t>cout</a:t>
            </a:r>
            <a:r>
              <a:rPr lang="en-US" dirty="0"/>
              <a:t> &lt;&lt; </a:t>
            </a:r>
            <a:r>
              <a:rPr lang="en-US" dirty="0" err="1"/>
              <a:t>i</a:t>
            </a:r>
            <a:r>
              <a:rPr lang="en-US" dirty="0"/>
              <a:t> &lt;&lt; " is out-of-bounds.\n";</a:t>
            </a:r>
          </a:p>
          <a:p>
            <a:r>
              <a:rPr lang="en-IN" dirty="0"/>
              <a:t>exit(1);</a:t>
            </a:r>
          </a:p>
          <a:p>
            <a:r>
              <a:rPr lang="en-IN" dirty="0"/>
              <a:t>}</a:t>
            </a:r>
          </a:p>
          <a:p>
            <a:r>
              <a:rPr lang="en-IN" dirty="0"/>
              <a:t>return a[</a:t>
            </a:r>
            <a:r>
              <a:rPr lang="en-IN" dirty="0" err="1"/>
              <a:t>i</a:t>
            </a:r>
            <a:r>
              <a:rPr lang="en-IN" dirty="0"/>
              <a:t>];</a:t>
            </a:r>
          </a:p>
          <a:p>
            <a:r>
              <a:rPr lang="en-IN" dirty="0"/>
              <a:t>}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D61D3E-48D4-E3C2-EFC4-7A70846DF542}"/>
              </a:ext>
            </a:extLst>
          </p:cNvPr>
          <p:cNvSpPr txBox="1"/>
          <p:nvPr/>
        </p:nvSpPr>
        <p:spPr>
          <a:xfrm>
            <a:off x="7095744" y="1783080"/>
            <a:ext cx="448970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int main()</a:t>
            </a:r>
          </a:p>
          <a:p>
            <a:r>
              <a:rPr lang="en-IN" dirty="0"/>
              <a:t>{</a:t>
            </a:r>
          </a:p>
          <a:p>
            <a:r>
              <a:rPr lang="en-IN" dirty="0" err="1"/>
              <a:t>atype</a:t>
            </a:r>
            <a:r>
              <a:rPr lang="en-IN" dirty="0"/>
              <a:t>&lt;int&gt; </a:t>
            </a:r>
            <a:r>
              <a:rPr lang="en-IN" dirty="0" err="1"/>
              <a:t>intob</a:t>
            </a:r>
            <a:r>
              <a:rPr lang="en-IN" dirty="0"/>
              <a:t>; // integer array</a:t>
            </a:r>
          </a:p>
          <a:p>
            <a:r>
              <a:rPr lang="fr-FR" dirty="0" err="1"/>
              <a:t>atype</a:t>
            </a:r>
            <a:r>
              <a:rPr lang="fr-FR" dirty="0"/>
              <a:t>&lt;double&gt; </a:t>
            </a:r>
            <a:r>
              <a:rPr lang="fr-FR" dirty="0" err="1"/>
              <a:t>doubleob</a:t>
            </a:r>
            <a:r>
              <a:rPr lang="fr-FR" dirty="0"/>
              <a:t>; // double </a:t>
            </a:r>
            <a:r>
              <a:rPr lang="fr-FR" dirty="0" err="1"/>
              <a:t>array</a:t>
            </a:r>
            <a:endParaRPr lang="fr-FR" dirty="0"/>
          </a:p>
          <a:p>
            <a:r>
              <a:rPr lang="en-IN" dirty="0"/>
              <a:t>int </a:t>
            </a:r>
            <a:r>
              <a:rPr lang="en-IN" dirty="0" err="1"/>
              <a:t>i</a:t>
            </a:r>
            <a:r>
              <a:rPr lang="en-IN" dirty="0"/>
              <a:t>;</a:t>
            </a:r>
          </a:p>
          <a:p>
            <a:r>
              <a:rPr lang="en-IN" dirty="0" err="1"/>
              <a:t>cout</a:t>
            </a:r>
            <a:r>
              <a:rPr lang="en-IN" dirty="0"/>
              <a:t> &lt;&lt; "Integer array: ";</a:t>
            </a:r>
          </a:p>
          <a:p>
            <a:r>
              <a:rPr lang="nn-NO" dirty="0"/>
              <a:t>for(i=0; i&lt;SIZE; i++) intob[i] = i;</a:t>
            </a:r>
          </a:p>
          <a:p>
            <a:r>
              <a:rPr lang="en-IN" dirty="0"/>
              <a:t>for(</a:t>
            </a:r>
            <a:r>
              <a:rPr lang="en-IN" dirty="0" err="1"/>
              <a:t>i</a:t>
            </a:r>
            <a:r>
              <a:rPr lang="en-IN" dirty="0"/>
              <a:t>=0; </a:t>
            </a:r>
            <a:r>
              <a:rPr lang="en-IN" dirty="0" err="1"/>
              <a:t>i</a:t>
            </a:r>
            <a:r>
              <a:rPr lang="en-IN" dirty="0"/>
              <a:t>&lt;SIZE; </a:t>
            </a:r>
            <a:r>
              <a:rPr lang="en-IN" dirty="0" err="1"/>
              <a:t>i</a:t>
            </a:r>
            <a:r>
              <a:rPr lang="en-IN" dirty="0"/>
              <a:t>++) </a:t>
            </a:r>
            <a:r>
              <a:rPr lang="en-IN" dirty="0" err="1"/>
              <a:t>cout</a:t>
            </a:r>
            <a:r>
              <a:rPr lang="en-IN" dirty="0"/>
              <a:t> &lt;&lt; </a:t>
            </a:r>
            <a:r>
              <a:rPr lang="en-IN" dirty="0" err="1"/>
              <a:t>intob</a:t>
            </a:r>
            <a:r>
              <a:rPr lang="en-IN" dirty="0"/>
              <a:t>[</a:t>
            </a:r>
            <a:r>
              <a:rPr lang="en-IN" dirty="0" err="1"/>
              <a:t>i</a:t>
            </a:r>
            <a:r>
              <a:rPr lang="en-IN" dirty="0"/>
              <a:t>] &lt;&lt; " ";</a:t>
            </a:r>
          </a:p>
          <a:p>
            <a:r>
              <a:rPr lang="en-IN" dirty="0" err="1"/>
              <a:t>cout</a:t>
            </a:r>
            <a:r>
              <a:rPr lang="en-IN" dirty="0"/>
              <a:t> &lt;&lt; '\n';</a:t>
            </a:r>
          </a:p>
          <a:p>
            <a:r>
              <a:rPr lang="en-IN" dirty="0" err="1"/>
              <a:t>cout</a:t>
            </a:r>
            <a:r>
              <a:rPr lang="en-IN" dirty="0"/>
              <a:t> &lt;&lt; "Double array: ";</a:t>
            </a:r>
          </a:p>
          <a:p>
            <a:r>
              <a:rPr lang="en-US" dirty="0"/>
              <a:t>for(</a:t>
            </a:r>
            <a:r>
              <a:rPr lang="en-US" dirty="0" err="1"/>
              <a:t>i</a:t>
            </a:r>
            <a:r>
              <a:rPr lang="en-US" dirty="0"/>
              <a:t>=0; </a:t>
            </a:r>
            <a:r>
              <a:rPr lang="en-US" dirty="0" err="1"/>
              <a:t>i</a:t>
            </a:r>
            <a:r>
              <a:rPr lang="en-US" dirty="0"/>
              <a:t>&lt;SIZE; </a:t>
            </a:r>
            <a:r>
              <a:rPr lang="en-US" dirty="0" err="1"/>
              <a:t>i</a:t>
            </a:r>
            <a:r>
              <a:rPr lang="en-US" dirty="0"/>
              <a:t>++) </a:t>
            </a:r>
            <a:r>
              <a:rPr lang="en-US" dirty="0" err="1"/>
              <a:t>doubleob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 = (double) </a:t>
            </a:r>
            <a:r>
              <a:rPr lang="en-US" dirty="0" err="1"/>
              <a:t>i</a:t>
            </a:r>
            <a:r>
              <a:rPr lang="en-US" dirty="0"/>
              <a:t>/3;</a:t>
            </a:r>
          </a:p>
          <a:p>
            <a:r>
              <a:rPr lang="en-US" dirty="0"/>
              <a:t>for(</a:t>
            </a:r>
            <a:r>
              <a:rPr lang="en-US" dirty="0" err="1"/>
              <a:t>i</a:t>
            </a:r>
            <a:r>
              <a:rPr lang="en-US" dirty="0"/>
              <a:t>=0; </a:t>
            </a:r>
            <a:r>
              <a:rPr lang="en-US" dirty="0" err="1"/>
              <a:t>i</a:t>
            </a:r>
            <a:r>
              <a:rPr lang="en-US" dirty="0"/>
              <a:t>&lt;SIZE; </a:t>
            </a:r>
            <a:r>
              <a:rPr lang="en-US" dirty="0" err="1"/>
              <a:t>i</a:t>
            </a:r>
            <a:r>
              <a:rPr lang="en-US" dirty="0"/>
              <a:t>++) </a:t>
            </a:r>
            <a:r>
              <a:rPr lang="en-US" dirty="0" err="1"/>
              <a:t>cout</a:t>
            </a:r>
            <a:r>
              <a:rPr lang="en-US" dirty="0"/>
              <a:t> &lt;&lt; </a:t>
            </a:r>
            <a:r>
              <a:rPr lang="en-US" dirty="0" err="1"/>
              <a:t>doubleob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 &lt;&lt; " ";</a:t>
            </a:r>
          </a:p>
          <a:p>
            <a:r>
              <a:rPr lang="en-IN" dirty="0" err="1"/>
              <a:t>cout</a:t>
            </a:r>
            <a:r>
              <a:rPr lang="en-IN" dirty="0"/>
              <a:t> &lt;&lt; '\n';</a:t>
            </a:r>
          </a:p>
          <a:p>
            <a:r>
              <a:rPr lang="en-IN" dirty="0" err="1"/>
              <a:t>intob</a:t>
            </a:r>
            <a:r>
              <a:rPr lang="en-IN" dirty="0"/>
              <a:t>[12] = 100; // generates runtime error</a:t>
            </a:r>
          </a:p>
          <a:p>
            <a:r>
              <a:rPr lang="en-IN" dirty="0"/>
              <a:t>return 0;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190512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A50101-3A06-8832-77E6-EC03101C63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IN" dirty="0"/>
              <a:t>Good Luck</a:t>
            </a:r>
          </a:p>
        </p:txBody>
      </p:sp>
    </p:spTree>
    <p:extLst>
      <p:ext uri="{BB962C8B-B14F-4D97-AF65-F5344CB8AC3E}">
        <p14:creationId xmlns:p14="http://schemas.microsoft.com/office/powerpoint/2010/main" val="436574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1382</Words>
  <Application>Microsoft Office PowerPoint</Application>
  <PresentationFormat>Widescreen</PresentationFormat>
  <Paragraphs>184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Office Theme</vt:lpstr>
      <vt:lpstr>Templates</vt:lpstr>
      <vt:lpstr>Generic Functions</vt:lpstr>
      <vt:lpstr>Generic Functions</vt:lpstr>
      <vt:lpstr>Generic Functions</vt:lpstr>
      <vt:lpstr>A Function with Two Generic Types</vt:lpstr>
      <vt:lpstr>Overloading a Generic Function</vt:lpstr>
      <vt:lpstr>Overloading a Generic Function</vt:lpstr>
      <vt:lpstr>Overloading a Function Template</vt:lpstr>
      <vt:lpstr>Generic Function Restrictions</vt:lpstr>
      <vt:lpstr>Generic Classes</vt:lpstr>
      <vt:lpstr>A Generic Array Class</vt:lpstr>
      <vt:lpstr>A Generic Array Class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Sudipta Patowary</dc:creator>
  <cp:lastModifiedBy>Sudipta Patowary</cp:lastModifiedBy>
  <cp:revision>15</cp:revision>
  <dcterms:created xsi:type="dcterms:W3CDTF">2025-11-11T07:24:33Z</dcterms:created>
  <dcterms:modified xsi:type="dcterms:W3CDTF">2025-11-11T08:00:47Z</dcterms:modified>
</cp:coreProperties>
</file>